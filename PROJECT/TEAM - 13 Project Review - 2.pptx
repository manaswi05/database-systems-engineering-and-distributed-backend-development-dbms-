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3"/>
  </p:notesMasterIdLst>
  <p:handoutMasterIdLst>
    <p:handoutMasterId r:id="rId14"/>
  </p:handoutMasterIdLst>
  <p:sldIdLst>
    <p:sldId id="317" r:id="rId5"/>
    <p:sldId id="319" r:id="rId6"/>
    <p:sldId id="320" r:id="rId7"/>
    <p:sldId id="308" r:id="rId8"/>
    <p:sldId id="309" r:id="rId9"/>
    <p:sldId id="263" r:id="rId10"/>
    <p:sldId id="310" r:id="rId11"/>
    <p:sldId id="32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105" d="100"/>
          <a:sy n="105" d="100"/>
        </p:scale>
        <p:origin x="834" y="7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8/28/2026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8/28/2026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0" y="0"/>
            <a:ext cx="10242804" cy="6263640"/>
          </a:xfrm>
        </p:spPr>
        <p:txBody>
          <a:bodyPr anchor="ctr"/>
          <a:lstStyle/>
          <a:p>
            <a:pPr algn="l"/>
            <a:br>
              <a:rPr lang="en-IN" sz="2400" dirty="0"/>
            </a:br>
            <a:br>
              <a:rPr lang="en-IN" sz="1600" dirty="0"/>
            </a:br>
            <a:r>
              <a:rPr lang="en-IN" sz="1600" dirty="0"/>
              <a:t>DATABASE SYSTEMS ENGINEERING AND DISTRIBUTED BACKEND DEVELOPMENT </a:t>
            </a:r>
            <a:br>
              <a:rPr lang="en-IN" sz="1600" dirty="0"/>
            </a:br>
            <a:br>
              <a:rPr lang="en-IN" sz="1600" dirty="0"/>
            </a:br>
            <a:br>
              <a:rPr lang="en-IN" sz="1600" dirty="0"/>
            </a:br>
            <a:r>
              <a:rPr lang="en-IN" sz="3200" dirty="0">
                <a:latin typeface="Arial Black" panose="020B0A04020102020204" pitchFamily="34" charset="0"/>
              </a:rPr>
              <a:t>Shipment Management &amp; Analytics Portal for Logistics &amp; Supply Chain</a:t>
            </a:r>
            <a:br>
              <a:rPr lang="en-IN" sz="1600" dirty="0"/>
            </a:br>
            <a:br>
              <a:rPr lang="en-IN" sz="3200" dirty="0">
                <a:latin typeface="Arial Black" panose="020B0A04020102020204" pitchFamily="34" charset="0"/>
              </a:rPr>
            </a:br>
            <a:br>
              <a:rPr lang="en-IN" sz="3200" dirty="0">
                <a:latin typeface="Arial Black" panose="020B0A04020102020204" pitchFamily="34" charset="0"/>
              </a:rPr>
            </a:br>
            <a:r>
              <a:rPr lang="en-IN" sz="1600" dirty="0"/>
              <a:t>TEAM MEMBERS: </a:t>
            </a:r>
            <a:br>
              <a:rPr lang="en-IN" dirty="0"/>
            </a:br>
            <a:r>
              <a:rPr lang="en-IN" sz="1600" dirty="0">
                <a:latin typeface="Gill Sans MT Condensed" panose="020B0506020104020203" pitchFamily="34" charset="0"/>
              </a:rPr>
              <a:t>MANASWI - 2520030411</a:t>
            </a:r>
            <a:br>
              <a:rPr lang="en-IN" sz="1600" dirty="0">
                <a:latin typeface="Gill Sans MT Condensed" panose="020B0506020104020203" pitchFamily="34" charset="0"/>
              </a:rPr>
            </a:br>
            <a:r>
              <a:rPr lang="en-IN" sz="1600" dirty="0">
                <a:latin typeface="Gill Sans MT Condensed" panose="020B0506020104020203" pitchFamily="34" charset="0"/>
              </a:rPr>
              <a:t>NAMBURI TEJA SRI – 2520030139</a:t>
            </a:r>
            <a:br>
              <a:rPr lang="en-IN" sz="1600" dirty="0">
                <a:latin typeface="Bahnschrift Light" panose="020B0502040204020203" pitchFamily="34" charset="0"/>
              </a:rPr>
            </a:br>
            <a:r>
              <a:rPr lang="en-IN" sz="1600" dirty="0">
                <a:latin typeface="Bahnschrift Condensed" panose="020B0502040204020203" pitchFamily="34" charset="0"/>
              </a:rPr>
              <a:t>Team number –  13</a:t>
            </a:r>
            <a:br>
              <a:rPr lang="en-IN" sz="1600" dirty="0">
                <a:latin typeface="Bahnschrift Condensed" panose="020B0502040204020203" pitchFamily="34" charset="0"/>
              </a:rPr>
            </a:br>
            <a:r>
              <a:rPr lang="en-IN" sz="1800" dirty="0">
                <a:latin typeface="Bahnschrift Condensed" panose="020B0502040204020203" pitchFamily="34" charset="0"/>
              </a:rPr>
              <a:t>Guide</a:t>
            </a:r>
            <a:r>
              <a:rPr lang="en-IN" sz="1600" dirty="0">
                <a:latin typeface="Bahnschrift Condensed" panose="020B0502040204020203" pitchFamily="34" charset="0"/>
              </a:rPr>
              <a:t> : </a:t>
            </a:r>
            <a:r>
              <a:rPr lang="en-US" sz="1600" b="1" dirty="0">
                <a:latin typeface="Bahnschrift Condensed" panose="020B0502040204020203" pitchFamily="34" charset="0"/>
                <a:ea typeface="Calibri" pitchFamily="34" charset="-122"/>
                <a:cs typeface="Calibri" pitchFamily="34" charset="-120"/>
              </a:rPr>
              <a:t>Dr. R. Sateesh Kumar</a:t>
            </a:r>
            <a:br>
              <a:rPr lang="en-US" sz="1600" dirty="0">
                <a:latin typeface="Bahnschrift Condensed" panose="020B0502040204020203" pitchFamily="34" charset="0"/>
              </a:rPr>
            </a:br>
            <a:br>
              <a:rPr lang="en-IN" sz="1600" dirty="0"/>
            </a:br>
            <a:br>
              <a:rPr lang="en-IN" sz="1600" dirty="0"/>
            </a:br>
            <a:br>
              <a:rPr lang="en-IN" sz="1600" dirty="0"/>
            </a:br>
            <a:endParaRPr lang="en-US" sz="1600"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BBD7C-A68A-79E9-E13B-6B00E1FA7C59}"/>
              </a:ext>
            </a:extLst>
          </p:cNvPr>
          <p:cNvSpPr>
            <a:spLocks noGrp="1"/>
          </p:cNvSpPr>
          <p:nvPr>
            <p:ph type="title"/>
          </p:nvPr>
        </p:nvSpPr>
        <p:spPr>
          <a:xfrm>
            <a:off x="457200" y="175272"/>
            <a:ext cx="10360152" cy="914400"/>
          </a:xfrm>
        </p:spPr>
        <p:txBody>
          <a:bodyPr/>
          <a:lstStyle/>
          <a:p>
            <a:r>
              <a:rPr lang="en-IN" dirty="0"/>
              <a:t>Abstract</a:t>
            </a:r>
          </a:p>
        </p:txBody>
      </p:sp>
      <p:sp>
        <p:nvSpPr>
          <p:cNvPr id="4" name="Slide Number Placeholder 3">
            <a:extLst>
              <a:ext uri="{FF2B5EF4-FFF2-40B4-BE49-F238E27FC236}">
                <a16:creationId xmlns:a16="http://schemas.microsoft.com/office/drawing/2014/main" id="{11658DB2-4247-9A5C-413E-695B916BF39D}"/>
              </a:ext>
            </a:extLst>
          </p:cNvPr>
          <p:cNvSpPr>
            <a:spLocks noGrp="1"/>
          </p:cNvSpPr>
          <p:nvPr>
            <p:ph type="sldNum" sz="quarter" idx="4"/>
          </p:nvPr>
        </p:nvSpPr>
        <p:spPr/>
        <p:txBody>
          <a:bodyPr/>
          <a:lstStyle/>
          <a:p>
            <a:fld id="{58FB4751-880F-D840-AAA9-3A15815CC996}" type="slidenum">
              <a:rPr lang="en-US" smtClean="0"/>
              <a:pPr/>
              <a:t>2</a:t>
            </a:fld>
            <a:endParaRPr lang="en-US" dirty="0"/>
          </a:p>
        </p:txBody>
      </p:sp>
      <p:sp>
        <p:nvSpPr>
          <p:cNvPr id="6" name="TextBox 5">
            <a:extLst>
              <a:ext uri="{FF2B5EF4-FFF2-40B4-BE49-F238E27FC236}">
                <a16:creationId xmlns:a16="http://schemas.microsoft.com/office/drawing/2014/main" id="{36B3C8BC-A7E0-A80B-317B-5E1C8B95DC56}"/>
              </a:ext>
            </a:extLst>
          </p:cNvPr>
          <p:cNvSpPr txBox="1"/>
          <p:nvPr/>
        </p:nvSpPr>
        <p:spPr>
          <a:xfrm>
            <a:off x="349758" y="1327416"/>
            <a:ext cx="6094476" cy="5355312"/>
          </a:xfrm>
          <a:prstGeom prst="rect">
            <a:avLst/>
          </a:prstGeom>
          <a:noFill/>
        </p:spPr>
        <p:txBody>
          <a:bodyPr wrap="square">
            <a:spAutoFit/>
          </a:bodyPr>
          <a:lstStyle/>
          <a:p>
            <a:pPr>
              <a:buNone/>
            </a:pPr>
            <a:r>
              <a:rPr lang="en-IN" dirty="0"/>
              <a:t>The Shipment Management &amp; Analytics Portal for Logistics &amp; Supply Chain is a web-based system designed to simplify and improve the management of shipments and logistics operations. The system provides a centralized platform for managing shipment details, tracking delivery status, monitoring orders, and maintaining customer and delivery information.</a:t>
            </a:r>
          </a:p>
          <a:p>
            <a:pPr>
              <a:buNone/>
            </a:pPr>
            <a:r>
              <a:rPr lang="en-IN" dirty="0"/>
              <a:t>The portal allows users to add, update, and track shipments throughout different stages such as processing, dispatched, in transit, and delivered. It also provides an analytics dashboard that presents useful information such as the number of shipments, delivery performance, delayed shipments, and overall shipment trends. These insights help logistics teams identify problems and make better decisions.</a:t>
            </a:r>
          </a:p>
          <a:p>
            <a:pPr>
              <a:buNone/>
            </a:pPr>
            <a:r>
              <a:rPr lang="en-IN" dirty="0"/>
              <a:t>By combining shipment management, real-time status tracking, and data analytics in one platform, the proposed system reduces manual work, improves visibility, and increases operational efficiency. The portal can be useful for logistics companies, warehouses, suppliers, and businesses involved in supply chain management.</a:t>
            </a:r>
          </a:p>
        </p:txBody>
      </p:sp>
      <p:pic>
        <p:nvPicPr>
          <p:cNvPr id="8" name="Picture 7">
            <a:extLst>
              <a:ext uri="{FF2B5EF4-FFF2-40B4-BE49-F238E27FC236}">
                <a16:creationId xmlns:a16="http://schemas.microsoft.com/office/drawing/2014/main" id="{CB2214DC-460C-6C94-E447-A4860F84C274}"/>
              </a:ext>
            </a:extLst>
          </p:cNvPr>
          <p:cNvPicPr>
            <a:picLocks noChangeAspect="1"/>
          </p:cNvPicPr>
          <p:nvPr/>
        </p:nvPicPr>
        <p:blipFill>
          <a:blip r:embed="rId2"/>
          <a:stretch>
            <a:fillRect/>
          </a:stretch>
        </p:blipFill>
        <p:spPr>
          <a:xfrm>
            <a:off x="6831393" y="970251"/>
            <a:ext cx="5010849" cy="2229161"/>
          </a:xfrm>
          <a:prstGeom prst="rect">
            <a:avLst/>
          </a:prstGeom>
        </p:spPr>
      </p:pic>
      <p:pic>
        <p:nvPicPr>
          <p:cNvPr id="10" name="Picture 9" descr="Logistics Management: Key Concepts, Tools, and Modern Trends in India">
            <a:extLst>
              <a:ext uri="{FF2B5EF4-FFF2-40B4-BE49-F238E27FC236}">
                <a16:creationId xmlns:a16="http://schemas.microsoft.com/office/drawing/2014/main" id="{9906A278-8D8D-D3A4-7A10-2FD6938F34C9}"/>
              </a:ext>
            </a:extLst>
          </p:cNvPr>
          <p:cNvPicPr>
            <a:picLocks noChangeAspect="1"/>
          </p:cNvPicPr>
          <p:nvPr/>
        </p:nvPicPr>
        <p:blipFill>
          <a:blip r:embed="rId3"/>
          <a:stretch>
            <a:fillRect/>
          </a:stretch>
        </p:blipFill>
        <p:spPr>
          <a:xfrm>
            <a:off x="7306361" y="3658589"/>
            <a:ext cx="4378147" cy="2736342"/>
          </a:xfrm>
          <a:prstGeom prst="rect">
            <a:avLst/>
          </a:prstGeom>
        </p:spPr>
      </p:pic>
    </p:spTree>
    <p:extLst>
      <p:ext uri="{BB962C8B-B14F-4D97-AF65-F5344CB8AC3E}">
        <p14:creationId xmlns:p14="http://schemas.microsoft.com/office/powerpoint/2010/main" val="1566206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3AE23-9238-0A8E-7BA0-2F3249746D14}"/>
              </a:ext>
            </a:extLst>
          </p:cNvPr>
          <p:cNvSpPr>
            <a:spLocks noGrp="1"/>
          </p:cNvSpPr>
          <p:nvPr>
            <p:ph type="title"/>
          </p:nvPr>
        </p:nvSpPr>
        <p:spPr>
          <a:xfrm>
            <a:off x="292421" y="359358"/>
            <a:ext cx="10360152" cy="539496"/>
          </a:xfrm>
        </p:spPr>
        <p:txBody>
          <a:bodyPr/>
          <a:lstStyle/>
          <a:p>
            <a:r>
              <a:rPr lang="en-IN" sz="3200" dirty="0"/>
              <a:t>Problem Statement</a:t>
            </a:r>
          </a:p>
        </p:txBody>
      </p:sp>
      <p:sp>
        <p:nvSpPr>
          <p:cNvPr id="3" name="Text Placeholder 2">
            <a:extLst>
              <a:ext uri="{FF2B5EF4-FFF2-40B4-BE49-F238E27FC236}">
                <a16:creationId xmlns:a16="http://schemas.microsoft.com/office/drawing/2014/main" id="{0257921D-6B03-26CB-7754-08077A1EE3C8}"/>
              </a:ext>
            </a:extLst>
          </p:cNvPr>
          <p:cNvSpPr>
            <a:spLocks noGrp="1"/>
          </p:cNvSpPr>
          <p:nvPr>
            <p:ph type="body" sz="quarter" idx="13"/>
          </p:nvPr>
        </p:nvSpPr>
        <p:spPr>
          <a:xfrm>
            <a:off x="292421" y="1407566"/>
            <a:ext cx="9022702" cy="4526703"/>
          </a:xfrm>
        </p:spPr>
        <p:txBody>
          <a:bodyPr>
            <a:noAutofit/>
          </a:bodyPr>
          <a:lstStyle/>
          <a:p>
            <a:r>
              <a:rPr lang="en-IN" sz="2000" dirty="0"/>
              <a:t>In logistics and supply chain operations, managing a large number of shipments manually can be difficult, time-consuming, and error-prone. Organizations often face challenges in tracking shipment status, identifying delayed deliveries, maintaining accurate shipment records, and monitoring overall delivery performance. When shipment information is stored across different systems or handled manually, it becomes difficult to get a complete view of the supply chain.</a:t>
            </a:r>
          </a:p>
          <a:p>
            <a:r>
              <a:rPr lang="en-IN" sz="2000" dirty="0"/>
              <a:t>There is a need for a </a:t>
            </a:r>
            <a:r>
              <a:rPr lang="en-IN" sz="2000" b="1" dirty="0"/>
              <a:t>centralized Shipment Management &amp; Analytics Portal </a:t>
            </a:r>
            <a:r>
              <a:rPr lang="en-IN" sz="2000" dirty="0"/>
              <a:t>that can manage shipment information, track deliveries, monitor shipment progress, and provide useful analytical insights. The proposed system aims to reduce manual effort, improve shipment visibility, identify delays, and help logistics teams make better data-driven decisions.</a:t>
            </a:r>
          </a:p>
          <a:p>
            <a:pPr algn="l"/>
            <a:endParaRPr lang="en-IN" sz="2000" dirty="0"/>
          </a:p>
        </p:txBody>
      </p:sp>
      <p:pic>
        <p:nvPicPr>
          <p:cNvPr id="5" name="Picture 4">
            <a:extLst>
              <a:ext uri="{FF2B5EF4-FFF2-40B4-BE49-F238E27FC236}">
                <a16:creationId xmlns:a16="http://schemas.microsoft.com/office/drawing/2014/main" id="{4ED422A4-84E1-063B-9971-DAC93D04B1CD}"/>
              </a:ext>
            </a:extLst>
          </p:cNvPr>
          <p:cNvPicPr>
            <a:picLocks noChangeAspect="1"/>
          </p:cNvPicPr>
          <p:nvPr/>
        </p:nvPicPr>
        <p:blipFill>
          <a:blip r:embed="rId2"/>
          <a:stretch>
            <a:fillRect/>
          </a:stretch>
        </p:blipFill>
        <p:spPr>
          <a:xfrm>
            <a:off x="9660030" y="74645"/>
            <a:ext cx="1985086" cy="6858000"/>
          </a:xfrm>
          <a:prstGeom prst="rect">
            <a:avLst/>
          </a:prstGeom>
        </p:spPr>
      </p:pic>
    </p:spTree>
    <p:extLst>
      <p:ext uri="{BB962C8B-B14F-4D97-AF65-F5344CB8AC3E}">
        <p14:creationId xmlns:p14="http://schemas.microsoft.com/office/powerpoint/2010/main" val="1590618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522513" y="1054359"/>
            <a:ext cx="5641848" cy="5029200"/>
          </a:xfrm>
        </p:spPr>
        <p:txBody>
          <a:bodyPr/>
          <a:lstStyle/>
          <a:p>
            <a:r>
              <a:rPr lang="en-IN" sz="3200" b="1" dirty="0"/>
              <a:t>   Proposed Solution</a:t>
            </a:r>
            <a:br>
              <a:rPr lang="en-IN" sz="3200" b="1" dirty="0"/>
            </a:br>
            <a:br>
              <a:rPr lang="en-IN" sz="3200" b="1" dirty="0"/>
            </a:br>
            <a:r>
              <a:rPr lang="en-IN" sz="2800" dirty="0">
                <a:latin typeface="+mn-lt"/>
              </a:rPr>
              <a:t>The proposed system is </a:t>
            </a:r>
            <a:r>
              <a:rPr lang="en-IN" sz="2800" b="1" dirty="0">
                <a:latin typeface="+mn-lt"/>
              </a:rPr>
              <a:t>a web-based Shipment Management &amp; Analytics Portal</a:t>
            </a:r>
            <a:r>
              <a:rPr lang="en-IN" sz="2800" dirty="0">
                <a:latin typeface="+mn-lt"/>
              </a:rPr>
              <a:t> that provides a centralized platform to manage and track shipments. It allows users to update shipment status, monitor deliveries, identify delays, and view important data through an analytics dashboard. This helps reduce manual work, improve visibility, and make logistics operations more efficient.</a:t>
            </a:r>
            <a:br>
              <a:rPr lang="en-IN" sz="3200" dirty="0"/>
            </a:br>
            <a:endParaRPr lang="en-US" sz="3200" dirty="0"/>
          </a:p>
        </p:txBody>
      </p:sp>
      <p:pic>
        <p:nvPicPr>
          <p:cNvPr id="20" name="Picture 19">
            <a:extLst>
              <a:ext uri="{FF2B5EF4-FFF2-40B4-BE49-F238E27FC236}">
                <a16:creationId xmlns:a16="http://schemas.microsoft.com/office/drawing/2014/main" id="{B92868F0-D8D9-FD89-F090-7951D11D912F}"/>
              </a:ext>
            </a:extLst>
          </p:cNvPr>
          <p:cNvPicPr>
            <a:picLocks noChangeAspect="1"/>
          </p:cNvPicPr>
          <p:nvPr/>
        </p:nvPicPr>
        <p:blipFill>
          <a:blip r:embed="rId3"/>
          <a:stretch>
            <a:fillRect/>
          </a:stretch>
        </p:blipFill>
        <p:spPr>
          <a:xfrm>
            <a:off x="6096000" y="481596"/>
            <a:ext cx="5954613" cy="6031172"/>
          </a:xfrm>
          <a:prstGeom prst="rect">
            <a:avLst/>
          </a:prstGeom>
        </p:spPr>
      </p:pic>
    </p:spTree>
    <p:extLst>
      <p:ext uri="{BB962C8B-B14F-4D97-AF65-F5344CB8AC3E}">
        <p14:creationId xmlns:p14="http://schemas.microsoft.com/office/powerpoint/2010/main" val="222232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
        <p:nvSpPr>
          <p:cNvPr id="4" name="Title 3">
            <a:extLst>
              <a:ext uri="{FF2B5EF4-FFF2-40B4-BE49-F238E27FC236}">
                <a16:creationId xmlns:a16="http://schemas.microsoft.com/office/drawing/2014/main" id="{38DB333F-C805-2B24-EA31-48985AE9F133}"/>
              </a:ext>
            </a:extLst>
          </p:cNvPr>
          <p:cNvSpPr>
            <a:spLocks noGrp="1"/>
          </p:cNvSpPr>
          <p:nvPr>
            <p:ph type="title"/>
          </p:nvPr>
        </p:nvSpPr>
        <p:spPr>
          <a:xfrm>
            <a:off x="274320" y="767368"/>
            <a:ext cx="6510528" cy="5852888"/>
          </a:xfrm>
        </p:spPr>
        <p:txBody>
          <a:bodyPr/>
          <a:lstStyle/>
          <a:p>
            <a:pPr algn="ctr"/>
            <a:r>
              <a:rPr lang="en-IN" b="1" dirty="0"/>
              <a:t>System Architecture</a:t>
            </a:r>
            <a:br>
              <a:rPr lang="en-IN" b="1" dirty="0"/>
            </a:br>
            <a:br>
              <a:rPr lang="en-IN" b="1" dirty="0"/>
            </a:br>
            <a:r>
              <a:rPr lang="en-IN" sz="2400" dirty="0">
                <a:latin typeface="+mn-lt"/>
              </a:rPr>
              <a:t>The system follows a </a:t>
            </a:r>
            <a:r>
              <a:rPr lang="en-IN" sz="2400" b="1" dirty="0">
                <a:latin typeface="+mn-lt"/>
              </a:rPr>
              <a:t>three-layer architecture</a:t>
            </a:r>
            <a:r>
              <a:rPr lang="en-IN" sz="2400" dirty="0">
                <a:latin typeface="+mn-lt"/>
              </a:rPr>
              <a:t>:</a:t>
            </a:r>
            <a:br>
              <a:rPr lang="en-IN" sz="2400" dirty="0">
                <a:latin typeface="+mn-lt"/>
              </a:rPr>
            </a:br>
            <a:r>
              <a:rPr lang="en-IN" sz="2400" b="1" dirty="0">
                <a:latin typeface="+mn-lt"/>
              </a:rPr>
              <a:t>Frontend Layer</a:t>
            </a:r>
            <a:r>
              <a:rPr lang="en-IN" sz="2400" dirty="0">
                <a:latin typeface="+mn-lt"/>
              </a:rPr>
              <a:t> – Provides the user interface for adding shipments, tracking deliveries, and viewing analytics.</a:t>
            </a:r>
            <a:br>
              <a:rPr lang="en-IN" sz="2400" dirty="0">
                <a:latin typeface="+mn-lt"/>
              </a:rPr>
            </a:br>
            <a:r>
              <a:rPr lang="en-IN" sz="2400" b="1" dirty="0">
                <a:latin typeface="+mn-lt"/>
              </a:rPr>
              <a:t>Backend Layer</a:t>
            </a:r>
            <a:r>
              <a:rPr lang="en-IN" sz="2400" dirty="0">
                <a:latin typeface="+mn-lt"/>
              </a:rPr>
              <a:t> – Handles shipment processing, status updates, user requests, and business logic.</a:t>
            </a:r>
            <a:br>
              <a:rPr lang="en-IN" sz="2400" dirty="0">
                <a:latin typeface="+mn-lt"/>
              </a:rPr>
            </a:br>
            <a:r>
              <a:rPr lang="en-IN" sz="2400" b="1" dirty="0">
                <a:latin typeface="+mn-lt"/>
              </a:rPr>
              <a:t>Database Layer</a:t>
            </a:r>
            <a:r>
              <a:rPr lang="en-IN" sz="2400" dirty="0">
                <a:latin typeface="+mn-lt"/>
              </a:rPr>
              <a:t> – Stores shipment details, customer information, delivery status, and analytics data.</a:t>
            </a:r>
            <a:br>
              <a:rPr lang="en-IN" sz="2400" dirty="0">
                <a:latin typeface="+mn-lt"/>
              </a:rPr>
            </a:br>
            <a:r>
              <a:rPr lang="en-IN" sz="2400" b="1" dirty="0">
                <a:latin typeface="+mn-lt"/>
              </a:rPr>
              <a:t>Flow:</a:t>
            </a:r>
            <a:br>
              <a:rPr lang="en-IN" sz="2400" dirty="0">
                <a:latin typeface="+mn-lt"/>
              </a:rPr>
            </a:br>
            <a:r>
              <a:rPr lang="en-IN" sz="2400" b="1" dirty="0">
                <a:latin typeface="+mn-lt"/>
              </a:rPr>
              <a:t>User → Frontend → Backend → Database</a:t>
            </a:r>
            <a:br>
              <a:rPr lang="en-IN" sz="2400" dirty="0">
                <a:latin typeface="+mn-lt"/>
              </a:rPr>
            </a:br>
            <a:r>
              <a:rPr lang="en-IN" sz="2400" b="1" dirty="0" err="1">
                <a:latin typeface="+mn-lt"/>
              </a:rPr>
              <a:t>Database</a:t>
            </a:r>
            <a:r>
              <a:rPr lang="en-IN" sz="2400" b="1" dirty="0">
                <a:latin typeface="+mn-lt"/>
              </a:rPr>
              <a:t> → Backend → Analytics Dashboard → User</a:t>
            </a:r>
            <a:br>
              <a:rPr lang="en-IN" sz="2400" dirty="0">
                <a:latin typeface="+mn-lt"/>
              </a:rPr>
            </a:br>
            <a:r>
              <a:rPr lang="en-IN" sz="2400" dirty="0">
                <a:latin typeface="+mn-lt"/>
              </a:rPr>
              <a:t>This architecture provides a centralized, secure, and efficient way to manage shipment and logistics information.</a:t>
            </a:r>
            <a:br>
              <a:rPr lang="en-IN" sz="2400" dirty="0">
                <a:latin typeface="+mn-lt"/>
              </a:rPr>
            </a:br>
            <a:endParaRPr lang="en-IN" sz="2400" dirty="0">
              <a:latin typeface="+mn-lt"/>
            </a:endParaRPr>
          </a:p>
        </p:txBody>
      </p:sp>
      <p:pic>
        <p:nvPicPr>
          <p:cNvPr id="11" name="Picture 10">
            <a:extLst>
              <a:ext uri="{FF2B5EF4-FFF2-40B4-BE49-F238E27FC236}">
                <a16:creationId xmlns:a16="http://schemas.microsoft.com/office/drawing/2014/main" id="{759B6AFE-C852-DD7C-B474-C7DC8E17155F}"/>
              </a:ext>
            </a:extLst>
          </p:cNvPr>
          <p:cNvPicPr>
            <a:picLocks noChangeAspect="1"/>
          </p:cNvPicPr>
          <p:nvPr/>
        </p:nvPicPr>
        <p:blipFill>
          <a:blip r:embed="rId3"/>
          <a:stretch>
            <a:fillRect/>
          </a:stretch>
        </p:blipFill>
        <p:spPr>
          <a:xfrm>
            <a:off x="7123778" y="809259"/>
            <a:ext cx="4686490" cy="5239481"/>
          </a:xfrm>
          <a:prstGeom prst="rect">
            <a:avLst/>
          </a:prstGeom>
        </p:spPr>
      </p:pic>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1929384" y="448056"/>
            <a:ext cx="10360152" cy="795528"/>
          </a:xfrm>
        </p:spPr>
        <p:txBody>
          <a:bodyPr anchor="b"/>
          <a:lstStyle/>
          <a:p>
            <a:r>
              <a:rPr lang="en-IN" sz="3600" dirty="0"/>
              <a:t>Expected Output</a:t>
            </a:r>
            <a:endParaRPr lang="en-US" sz="3600" dirty="0"/>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285466" y="1503299"/>
            <a:ext cx="5969030" cy="4486021"/>
          </a:xfrm>
        </p:spPr>
        <p:txBody>
          <a:bodyPr>
            <a:normAutofit/>
          </a:bodyPr>
          <a:lstStyle/>
          <a:p>
            <a:r>
              <a:rPr lang="en-IN" dirty="0"/>
              <a:t>The system is expected to provide a </a:t>
            </a:r>
            <a:r>
              <a:rPr lang="en-IN" b="1" dirty="0"/>
              <a:t>user-friendly shipment management portal</a:t>
            </a:r>
            <a:r>
              <a:rPr lang="en-IN" dirty="0"/>
              <a:t> where users can add, update, and track shipments. It will display shipment status, delivery details, delayed shipments, and important logistics information through an </a:t>
            </a:r>
            <a:r>
              <a:rPr lang="en-IN" b="1" dirty="0"/>
              <a:t>analytics dashboard</a:t>
            </a:r>
            <a:r>
              <a:rPr lang="en-IN" dirty="0"/>
              <a:t>. The system will help improve tracking, reduce manual work, and support better decision-making.</a:t>
            </a:r>
            <a:endParaRPr lang="en-US" dirty="0"/>
          </a:p>
        </p:txBody>
      </p:sp>
      <p:pic>
        <p:nvPicPr>
          <p:cNvPr id="3" name="Picture 2" descr="How Supply Chain Analytics helps reduce operations costs - Unicsoft">
            <a:extLst>
              <a:ext uri="{FF2B5EF4-FFF2-40B4-BE49-F238E27FC236}">
                <a16:creationId xmlns:a16="http://schemas.microsoft.com/office/drawing/2014/main" id="{191E0D47-9605-7EAF-6CD9-63514D4541D0}"/>
              </a:ext>
            </a:extLst>
          </p:cNvPr>
          <p:cNvPicPr>
            <a:picLocks noChangeAspect="1"/>
          </p:cNvPicPr>
          <p:nvPr/>
        </p:nvPicPr>
        <p:blipFill>
          <a:blip r:embed="rId3"/>
          <a:stretch>
            <a:fillRect/>
          </a:stretch>
        </p:blipFill>
        <p:spPr>
          <a:xfrm>
            <a:off x="7263604" y="726185"/>
            <a:ext cx="3767233" cy="2301135"/>
          </a:xfrm>
          <a:prstGeom prst="rect">
            <a:avLst/>
          </a:prstGeom>
        </p:spPr>
      </p:pic>
      <p:pic>
        <p:nvPicPr>
          <p:cNvPr id="5" name="Picture 4" descr="2 Supply Chain Data Analytics Project Ideas for your Resume">
            <a:extLst>
              <a:ext uri="{FF2B5EF4-FFF2-40B4-BE49-F238E27FC236}">
                <a16:creationId xmlns:a16="http://schemas.microsoft.com/office/drawing/2014/main" id="{F855A16B-BC7A-FADC-4B0E-F7400FD262A9}"/>
              </a:ext>
            </a:extLst>
          </p:cNvPr>
          <p:cNvPicPr>
            <a:picLocks noChangeAspect="1"/>
          </p:cNvPicPr>
          <p:nvPr/>
        </p:nvPicPr>
        <p:blipFill>
          <a:blip r:embed="rId4"/>
          <a:stretch>
            <a:fillRect/>
          </a:stretch>
        </p:blipFill>
        <p:spPr>
          <a:xfrm>
            <a:off x="7133232" y="3527931"/>
            <a:ext cx="3897605" cy="2192403"/>
          </a:xfrm>
          <a:prstGeom prst="rect">
            <a:avLst/>
          </a:prstGeom>
        </p:spPr>
      </p:pic>
    </p:spTree>
    <p:extLst>
      <p:ext uri="{BB962C8B-B14F-4D97-AF65-F5344CB8AC3E}">
        <p14:creationId xmlns:p14="http://schemas.microsoft.com/office/powerpoint/2010/main" val="109671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265176" y="329184"/>
            <a:ext cx="9464040" cy="5788151"/>
          </a:xfrm>
        </p:spPr>
        <p:txBody>
          <a:bodyPr>
            <a:noAutofit/>
          </a:bodyPr>
          <a:lstStyle/>
          <a:p>
            <a:r>
              <a:rPr lang="en-IN" sz="3200" b="1" dirty="0">
                <a:latin typeface="+mj-lt"/>
              </a:rPr>
              <a:t>Required Tools and Technologies</a:t>
            </a:r>
          </a:p>
          <a:p>
            <a:endParaRPr lang="en-IN" sz="3200" b="1" dirty="0"/>
          </a:p>
          <a:p>
            <a:pPr lvl="0"/>
            <a:r>
              <a:rPr lang="en-IN" sz="3200" b="1" dirty="0"/>
              <a:t>Frontend:</a:t>
            </a:r>
            <a:r>
              <a:rPr lang="en-IN" sz="3200" dirty="0"/>
              <a:t> HTML, CSS, JavaScript, Bootstrap</a:t>
            </a:r>
          </a:p>
          <a:p>
            <a:pPr lvl="0"/>
            <a:r>
              <a:rPr lang="en-IN" sz="3200" b="1" dirty="0"/>
              <a:t>Backend:</a:t>
            </a:r>
            <a:r>
              <a:rPr lang="en-IN" sz="3200" dirty="0"/>
              <a:t> Python with Flask</a:t>
            </a:r>
          </a:p>
          <a:p>
            <a:pPr lvl="0"/>
            <a:r>
              <a:rPr lang="en-IN" sz="3200" b="1" dirty="0"/>
              <a:t>Database:</a:t>
            </a:r>
            <a:r>
              <a:rPr lang="en-IN" sz="3200" dirty="0"/>
              <a:t> MySQL</a:t>
            </a:r>
          </a:p>
          <a:p>
            <a:pPr lvl="0"/>
            <a:r>
              <a:rPr lang="en-IN" sz="3200" b="1" dirty="0"/>
              <a:t>Analytics &amp; Charts:</a:t>
            </a:r>
            <a:r>
              <a:rPr lang="en-IN" sz="3200" dirty="0"/>
              <a:t> Python, Pandas, Chart.js</a:t>
            </a:r>
          </a:p>
          <a:p>
            <a:pPr lvl="0"/>
            <a:r>
              <a:rPr lang="en-IN" sz="3200" b="1" dirty="0"/>
              <a:t>Development Tool:</a:t>
            </a:r>
            <a:r>
              <a:rPr lang="en-IN" sz="3200" dirty="0"/>
              <a:t> Visual Studio Code</a:t>
            </a:r>
          </a:p>
          <a:p>
            <a:pPr lvl="0"/>
            <a:r>
              <a:rPr lang="en-IN" sz="3200" b="1" dirty="0"/>
              <a:t>Testing Tool:</a:t>
            </a:r>
            <a:r>
              <a:rPr lang="en-IN" sz="3200" dirty="0"/>
              <a:t> Postman</a:t>
            </a:r>
          </a:p>
          <a:p>
            <a:pPr lvl="0"/>
            <a:r>
              <a:rPr lang="en-IN" sz="3200" b="1" dirty="0"/>
              <a:t>Version Control:</a:t>
            </a:r>
            <a:r>
              <a:rPr lang="en-IN" sz="3200" dirty="0"/>
              <a:t> Git and GitHub</a:t>
            </a:r>
          </a:p>
          <a:p>
            <a:endParaRPr lang="en-US" sz="3200"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pic>
        <p:nvPicPr>
          <p:cNvPr id="3" name="Picture 2" descr="Supply Chain Management (SCM): Software, Operations, and Pro">
            <a:extLst>
              <a:ext uri="{FF2B5EF4-FFF2-40B4-BE49-F238E27FC236}">
                <a16:creationId xmlns:a16="http://schemas.microsoft.com/office/drawing/2014/main" id="{6A42532C-8C5C-FC8C-359B-26B590E5B35A}"/>
              </a:ext>
            </a:extLst>
          </p:cNvPr>
          <p:cNvPicPr>
            <a:picLocks noChangeAspect="1"/>
          </p:cNvPicPr>
          <p:nvPr/>
        </p:nvPicPr>
        <p:blipFill>
          <a:blip r:embed="rId3"/>
          <a:stretch>
            <a:fillRect/>
          </a:stretch>
        </p:blipFill>
        <p:spPr>
          <a:xfrm>
            <a:off x="8026633" y="740665"/>
            <a:ext cx="3900191" cy="2937510"/>
          </a:xfrm>
          <a:prstGeom prst="rect">
            <a:avLst/>
          </a:prstGeom>
        </p:spPr>
      </p:pic>
      <p:pic>
        <p:nvPicPr>
          <p:cNvPr id="5" name="Picture 4">
            <a:extLst>
              <a:ext uri="{FF2B5EF4-FFF2-40B4-BE49-F238E27FC236}">
                <a16:creationId xmlns:a16="http://schemas.microsoft.com/office/drawing/2014/main" id="{196D5C10-20B4-F4F6-3153-CCD120AA5155}"/>
              </a:ext>
            </a:extLst>
          </p:cNvPr>
          <p:cNvPicPr>
            <a:picLocks noChangeAspect="1"/>
          </p:cNvPicPr>
          <p:nvPr/>
        </p:nvPicPr>
        <p:blipFill>
          <a:blip r:embed="rId4"/>
          <a:stretch>
            <a:fillRect/>
          </a:stretch>
        </p:blipFill>
        <p:spPr>
          <a:xfrm>
            <a:off x="8286104" y="3977852"/>
            <a:ext cx="3381248" cy="1901952"/>
          </a:xfrm>
          <a:prstGeom prst="rect">
            <a:avLst/>
          </a:prstGeom>
        </p:spPr>
      </p:pic>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57870-E1AB-55AA-CCFA-47BFFB2F2C21}"/>
              </a:ext>
            </a:extLst>
          </p:cNvPr>
          <p:cNvSpPr>
            <a:spLocks noGrp="1"/>
          </p:cNvSpPr>
          <p:nvPr>
            <p:ph type="ctrTitle"/>
          </p:nvPr>
        </p:nvSpPr>
        <p:spPr>
          <a:xfrm>
            <a:off x="915924" y="722376"/>
            <a:ext cx="10360152" cy="5029200"/>
          </a:xfrm>
        </p:spPr>
        <p:txBody>
          <a:bodyPr/>
          <a:lstStyle/>
          <a:p>
            <a:r>
              <a:rPr lang="en-IN" sz="9600" dirty="0"/>
              <a:t>THANK YOU</a:t>
            </a:r>
          </a:p>
        </p:txBody>
      </p:sp>
    </p:spTree>
    <p:extLst>
      <p:ext uri="{BB962C8B-B14F-4D97-AF65-F5344CB8AC3E}">
        <p14:creationId xmlns:p14="http://schemas.microsoft.com/office/powerpoint/2010/main" val="1818231915"/>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Organic presentation</Template>
  <TotalTime>64</TotalTime>
  <Words>651</Words>
  <Application>Microsoft Office PowerPoint</Application>
  <PresentationFormat>Widescreen</PresentationFormat>
  <Paragraphs>30</Paragraphs>
  <Slides>8</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Arial</vt:lpstr>
      <vt:lpstr>Arial Black</vt:lpstr>
      <vt:lpstr>Bahnschrift Condensed</vt:lpstr>
      <vt:lpstr>Bahnschrift Light</vt:lpstr>
      <vt:lpstr>Calibri</vt:lpstr>
      <vt:lpstr>Courier New</vt:lpstr>
      <vt:lpstr>Gill Sans MT Condensed</vt:lpstr>
      <vt:lpstr>Gill Sans Nova Light</vt:lpstr>
      <vt:lpstr>Sagona Book</vt:lpstr>
      <vt:lpstr>Custom</vt:lpstr>
      <vt:lpstr>  DATABASE SYSTEMS ENGINEERING AND DISTRIBUTED BACKEND DEVELOPMENT    Shipment Management &amp; Analytics Portal for Logistics &amp; Supply Chain   TEAM MEMBERS:  MANASWI - 2520030411 NAMBURI TEJA SRI – 2520030139 Team number –  13 Guide : Dr. R. Sateesh Kumar    </vt:lpstr>
      <vt:lpstr>Abstract</vt:lpstr>
      <vt:lpstr>Problem Statement</vt:lpstr>
      <vt:lpstr>   Proposed Solution  The proposed system is a web-based Shipment Management &amp; Analytics Portal that provides a centralized platform to manage and track shipments. It allows users to update shipment status, monitor deliveries, identify delays, and view important data through an analytics dashboard. This helps reduce manual work, improve visibility, and make logistics operations more efficient. </vt:lpstr>
      <vt:lpstr>System Architecture  The system follows a three-layer architecture: Frontend Layer – Provides the user interface for adding shipments, tracking deliveries, and viewing analytics. Backend Layer – Handles shipment processing, status updates, user requests, and business logic. Database Layer – Stores shipment details, customer information, delivery status, and analytics data. Flow: User → Frontend → Backend → Database Database → Backend → Analytics Dashboard → User This architecture provides a centralized, secure, and efficient way to manage shipment and logistics information. </vt:lpstr>
      <vt:lpstr>Expected Output</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manaswi chilukuri</dc:creator>
  <cp:lastModifiedBy>manaswi chilukuri</cp:lastModifiedBy>
  <cp:revision>1</cp:revision>
  <dcterms:created xsi:type="dcterms:W3CDTF">2026-08-28T05:35:18Z</dcterms:created>
  <dcterms:modified xsi:type="dcterms:W3CDTF">2026-08-28T06:39:19Z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